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66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8" r:id="rId13"/>
  </p:sldIdLst>
  <p:sldSz cx="12192000" cy="6858000"/>
  <p:notesSz cx="6858000" cy="12192000"/>
  <p:embeddedFontLst>
    <p:embeddedFont>
      <p:font typeface="Arial Black" panose="020B0A04020102020204" pitchFamily="34" charset="0"/>
      <p:bold r:id="rId15"/>
    </p:embeddedFont>
    <p:embeddedFont>
      <p:font typeface="Bahnschrift SemiBold" panose="020B0502040204020203" pitchFamily="34" charset="0"/>
      <p:bold r:id="rId16"/>
    </p:embeddedFont>
    <p:embeddedFont>
      <p:font typeface="Berlin Sans FB Demi" panose="020E0802020502020306" pitchFamily="34" charset="0"/>
      <p:bold r:id="rId17"/>
    </p:embeddedFont>
    <p:embeddedFont>
      <p:font typeface="Merriweather" panose="00000500000000000000" pitchFamily="2" charset="0"/>
      <p:regular r:id="rId18"/>
    </p:embeddedFont>
    <p:embeddedFont>
      <p:font typeface="Merriweather Bold" panose="00000800000000000000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2205AA-39A9-442D-8325-2D25164E9979}" v="6" dt="2026-09-15T10:36:03.7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58" d="100"/>
          <a:sy n="58" d="100"/>
        </p:scale>
        <p:origin x="1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5749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151A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svg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0A6AB5-C429-CD70-21C2-7F2ED8B88399}"/>
              </a:ext>
            </a:extLst>
          </p:cNvPr>
          <p:cNvSpPr txBox="1"/>
          <p:nvPr/>
        </p:nvSpPr>
        <p:spPr>
          <a:xfrm>
            <a:off x="575094" y="1185373"/>
            <a:ext cx="1023524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solidFill>
                  <a:schemeClr val="tx2">
                    <a:lumMod val="20000"/>
                    <a:lumOff val="80000"/>
                  </a:schemeClr>
                </a:solidFill>
                <a:latin typeface="Arial Black" panose="020B0A04020102020204" pitchFamily="34" charset="0"/>
              </a:rPr>
              <a:t>TEAM:</a:t>
            </a:r>
          </a:p>
          <a:p>
            <a:pPr algn="ctr"/>
            <a:br>
              <a:rPr lang="en-US" sz="4800" dirty="0">
                <a:solidFill>
                  <a:schemeClr val="tx2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</a:br>
            <a:r>
              <a:rPr lang="en-US" sz="4800" dirty="0">
                <a:solidFill>
                  <a:schemeClr val="tx2">
                    <a:lumMod val="20000"/>
                    <a:lumOff val="80000"/>
                  </a:schemeClr>
                </a:solidFill>
                <a:latin typeface="Bahnschrift SemiBold" panose="020B0502040204020203" pitchFamily="34" charset="0"/>
              </a:rPr>
              <a:t>BIT SQUAD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AB850DAA-E1B2-825E-FEC6-E24E10EB7EF2}"/>
              </a:ext>
            </a:extLst>
          </p:cNvPr>
          <p:cNvCxnSpPr/>
          <p:nvPr/>
        </p:nvCxnSpPr>
        <p:spPr>
          <a:xfrm>
            <a:off x="575094" y="3493697"/>
            <a:ext cx="11041811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DD00581-C47A-5E19-25EE-29A9ECFD3E06}"/>
              </a:ext>
            </a:extLst>
          </p:cNvPr>
          <p:cNvSpPr txBox="1"/>
          <p:nvPr/>
        </p:nvSpPr>
        <p:spPr>
          <a:xfrm>
            <a:off x="1069675" y="4589253"/>
            <a:ext cx="1010153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accent1">
                    <a:lumMod val="60000"/>
                    <a:lumOff val="40000"/>
                  </a:schemeClr>
                </a:solidFill>
                <a:latin typeface="Berlin Sans FB Demi" panose="020E0802020502020306" pitchFamily="34" charset="0"/>
              </a:rPr>
              <a:t>Topic: Threat Intelligence Correlation and Alert Prioritization Assistant 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40022A7-1BA3-9803-4124-2E79C72D5C35}"/>
              </a:ext>
            </a:extLst>
          </p:cNvPr>
          <p:cNvCxnSpPr>
            <a:cxnSpLocks/>
          </p:cNvCxnSpPr>
          <p:nvPr/>
        </p:nvCxnSpPr>
        <p:spPr>
          <a:xfrm>
            <a:off x="1345724" y="3631720"/>
            <a:ext cx="952356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42204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00318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2597" y="154186"/>
            <a:ext cx="4366310" cy="65496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0012" y="1981101"/>
            <a:ext cx="6179784" cy="1928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Threat Intelligence: Smart Security for Your Network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720012" y="4218484"/>
            <a:ext cx="6179784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Introducing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ClearSignal AI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— the system that cuts through the noise and finds real cyber threats before it's too late.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00318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2" y="132556"/>
            <a:ext cx="4395082" cy="659278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91898" y="592138"/>
            <a:ext cx="6179784" cy="552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4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Problem: Alert Fatigue</a:t>
            </a:r>
            <a:endParaRPr lang="en-US" sz="3450" dirty="0"/>
          </a:p>
        </p:txBody>
      </p:sp>
      <p:sp>
        <p:nvSpPr>
          <p:cNvPr id="5" name="Shape 2"/>
          <p:cNvSpPr/>
          <p:nvPr/>
        </p:nvSpPr>
        <p:spPr>
          <a:xfrm>
            <a:off x="5291898" y="1372493"/>
            <a:ext cx="6179784" cy="996652"/>
          </a:xfrm>
          <a:prstGeom prst="roundRect">
            <a:avLst>
              <a:gd name="adj" fmla="val 7451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475051" y="1555651"/>
            <a:ext cx="5813478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10,000+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75051" y="1923058"/>
            <a:ext cx="5813478" cy="2629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Security alerts every single day — too many for any human to read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291898" y="2521049"/>
            <a:ext cx="6179784" cy="1259582"/>
          </a:xfrm>
          <a:prstGeom prst="roundRect">
            <a:avLst>
              <a:gd name="adj" fmla="val 5895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475051" y="2704207"/>
            <a:ext cx="5813478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Mostly False Alarms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475051" y="3071614"/>
            <a:ext cx="5813478" cy="525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Like a bird triggering a motion sensor — harmless, but the alarm still goes off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5291898" y="3932535"/>
            <a:ext cx="6179784" cy="1259582"/>
          </a:xfrm>
          <a:prstGeom prst="roundRect">
            <a:avLst>
              <a:gd name="adj" fmla="val 5895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75051" y="4115693"/>
            <a:ext cx="5813478" cy="2763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7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Real Attacks Get Missed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5475051" y="4483100"/>
            <a:ext cx="5813478" cy="525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Analysts are exhausted and distracted — dangerous threats slip right through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5291898" y="5362972"/>
            <a:ext cx="6179784" cy="902791"/>
          </a:xfrm>
          <a:prstGeom prst="roundRect">
            <a:avLst>
              <a:gd name="adj" fmla="val 8225"/>
            </a:avLst>
          </a:prstGeom>
          <a:solidFill>
            <a:srgbClr val="4B3F02"/>
          </a:solidFill>
          <a:ln/>
        </p:spPr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01" y="5582047"/>
            <a:ext cx="220955" cy="17680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866459" y="5559028"/>
            <a:ext cx="5428420" cy="5258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This is called </a:t>
            </a:r>
            <a:r>
              <a:rPr lang="en-US" sz="1350" b="1" dirty="0">
                <a:solidFill>
                  <a:srgbClr val="FFFFFF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"Alert Fatigue"</a:t>
            </a:r>
            <a:r>
              <a:rPr lang="en-US" sz="1350" dirty="0">
                <a:solidFill>
                  <a:srgbClr val="FFFFFF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— and it's one of the biggest problems in cybersecurity today.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54" y="1726406"/>
            <a:ext cx="3405003" cy="34050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8642" y="1919387"/>
            <a:ext cx="6753850" cy="64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is a Cyber Attack?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678642" y="2768005"/>
            <a:ext cx="6753850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 hacker tries to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break into a company's computer network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— to steal data, shut down systems, or cause serious damage.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678642" y="3611563"/>
            <a:ext cx="6753850" cy="1460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Attacks happen constantly, around the clock</a:t>
            </a:r>
            <a:endParaRPr lang="en-US" sz="1600" dirty="0"/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Most are blocked automatically by basic defenses</a:t>
            </a:r>
            <a:endParaRPr lang="en-US" sz="1600" dirty="0"/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real danger: we can't easily tell a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fake alarm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from a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real attack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5454" y="1233091"/>
            <a:ext cx="10660788" cy="64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Why Current Systems Fail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65454" y="2287488"/>
            <a:ext cx="10660788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Every suspicious activity triggers an alert — even completely harmless ones. Here's what analysts actually see:</a:t>
            </a:r>
            <a:endParaRPr lang="en-US" sz="1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5454" y="3177282"/>
            <a:ext cx="3416413" cy="188694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8126" y="3408363"/>
            <a:ext cx="285266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🔔</a:t>
            </a:r>
            <a:r>
              <a:rPr lang="en-US" sz="2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Employee logs in from a new location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098126" y="4174728"/>
            <a:ext cx="2852666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Flagged as suspicious → Alert sent</a:t>
            </a:r>
            <a:endParaRPr lang="en-US" sz="1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87542" y="3177282"/>
            <a:ext cx="3416512" cy="188694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720214" y="3408363"/>
            <a:ext cx="2852765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🔔</a:t>
            </a:r>
            <a:r>
              <a:rPr lang="en-US" sz="2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Routine system backup runs overnight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4720214" y="4174728"/>
            <a:ext cx="2852765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Flagged as suspicious → Alert sent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009729" y="3177282"/>
            <a:ext cx="3416413" cy="188694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342401" y="3408363"/>
            <a:ext cx="2852666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🔔</a:t>
            </a:r>
            <a:r>
              <a:rPr lang="en-US" sz="2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Real hacker stealing passwords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8342401" y="4174728"/>
            <a:ext cx="2852666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Flagged as suspicious → Alert sent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60661" y="5295602"/>
            <a:ext cx="11270373" cy="3292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33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All three look identical. Analysts can't tell which one is actually dangerous.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19809" y="0"/>
            <a:ext cx="4571886" cy="6858000"/>
          </a:xfrm>
          <a:prstGeom prst="rect">
            <a:avLst/>
          </a:prstGeom>
          <a:solidFill>
            <a:srgbClr val="00318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349" y="125313"/>
            <a:ext cx="4404805" cy="6607373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20012" y="576659"/>
            <a:ext cx="6179784" cy="5223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2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Our Solution: ClearSignal AI</a:t>
            </a:r>
            <a:endParaRPr lang="en-US" sz="3250" dirty="0"/>
          </a:p>
        </p:txBody>
      </p:sp>
      <p:sp>
        <p:nvSpPr>
          <p:cNvPr id="5" name="Shape 2"/>
          <p:cNvSpPr/>
          <p:nvPr/>
        </p:nvSpPr>
        <p:spPr>
          <a:xfrm>
            <a:off x="720012" y="1302742"/>
            <a:ext cx="6179784" cy="1569045"/>
          </a:xfrm>
          <a:prstGeom prst="roundRect">
            <a:avLst>
              <a:gd name="adj" fmla="val 4475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93442" y="1476177"/>
            <a:ext cx="501439" cy="501452"/>
          </a:xfrm>
          <a:prstGeom prst="ellipse">
            <a:avLst/>
          </a:prstGeom>
          <a:solidFill>
            <a:srgbClr val="609DFF"/>
          </a:solidFill>
          <a:ln/>
        </p:spPr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31353" y="1613991"/>
            <a:ext cx="225618" cy="225623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93442" y="2113359"/>
            <a:ext cx="5832924" cy="261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Filters False Alarms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893442" y="2455962"/>
            <a:ext cx="5832924" cy="242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Automatically ignores the noise so analysts don't have to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20012" y="3007519"/>
            <a:ext cx="6179784" cy="1569045"/>
          </a:xfrm>
          <a:prstGeom prst="roundRect">
            <a:avLst>
              <a:gd name="adj" fmla="val 4475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93442" y="3180953"/>
            <a:ext cx="501439" cy="501452"/>
          </a:xfrm>
          <a:prstGeom prst="ellipse">
            <a:avLst/>
          </a:prstGeom>
          <a:solidFill>
            <a:srgbClr val="609DFF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31353" y="3318768"/>
            <a:ext cx="225618" cy="22562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893442" y="3818136"/>
            <a:ext cx="5832924" cy="261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Identifies Real Threats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893442" y="4160738"/>
            <a:ext cx="5832924" cy="242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Shows only the 3–5 alerts that actually matter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720012" y="4712295"/>
            <a:ext cx="6179784" cy="1569045"/>
          </a:xfrm>
          <a:prstGeom prst="roundRect">
            <a:avLst>
              <a:gd name="adj" fmla="val 4475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93442" y="4885730"/>
            <a:ext cx="501439" cy="501452"/>
          </a:xfrm>
          <a:prstGeom prst="ellipse">
            <a:avLst/>
          </a:prstGeom>
          <a:solidFill>
            <a:srgbClr val="609DFF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31353" y="5023545"/>
            <a:ext cx="225618" cy="22562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93442" y="5522913"/>
            <a:ext cx="5832924" cy="26114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Writes the Report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893442" y="5865515"/>
            <a:ext cx="5832924" cy="2423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1000"/>
              </a:lnSpc>
              <a:buNone/>
            </a:pPr>
            <a:r>
              <a:rPr lang="en-US" sz="13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Delivers a clear summary straight to the security commander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5454" y="739080"/>
            <a:ext cx="10660788" cy="64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How ClearSignal Works: Step 1 — Filter</a:t>
            </a:r>
            <a:endParaRPr lang="en-US" sz="4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54" y="2059384"/>
            <a:ext cx="6753850" cy="3690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56076" y="3788668"/>
            <a:ext cx="1564910" cy="212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Incoming Alerts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607740" y="3764656"/>
            <a:ext cx="1564911" cy="212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ClearSignal Filter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677330" y="3772345"/>
            <a:ext cx="1564910" cy="2129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3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Suspicious Alerts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8027489" y="1896269"/>
            <a:ext cx="3405003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gets filtered out?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027489" y="2423418"/>
            <a:ext cx="3405003" cy="1460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Employee logging in at a normal time</a:t>
            </a:r>
            <a:endParaRPr lang="en-US" sz="1600" dirty="0"/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Routine nightly backups</a:t>
            </a:r>
            <a:endParaRPr lang="en-US" sz="1600" dirty="0"/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Standard software updates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27489" y="4089797"/>
            <a:ext cx="3405003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What moves forward?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027489" y="4616946"/>
            <a:ext cx="3405003" cy="1316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Anything that doesn't match normal, everyday behavior gets flagged and passed to Step 2 for a closer look.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5454" y="1856284"/>
            <a:ext cx="10660788" cy="64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How ClearSignal Works: Step 2 — Analyze</a:t>
            </a:r>
            <a:endParaRPr lang="en-US" sz="40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54" y="2910681"/>
            <a:ext cx="744023" cy="74404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766645" y="2910681"/>
            <a:ext cx="2380893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Act Like a Detective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766645" y="3677047"/>
            <a:ext cx="2380893" cy="1316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ClearSignal looks at suspicious alerts and asks: "Have I seen this before?"</a:t>
            </a:r>
            <a:endParaRPr lang="en-US" sz="16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4706" y="2910681"/>
            <a:ext cx="744023" cy="74404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405898" y="2910681"/>
            <a:ext cx="2380992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Check the Database</a:t>
            </a:r>
            <a:endParaRPr lang="en-US" sz="2000" dirty="0"/>
          </a:p>
        </p:txBody>
      </p:sp>
      <p:sp>
        <p:nvSpPr>
          <p:cNvPr id="8" name="Text 4"/>
          <p:cNvSpPr/>
          <p:nvPr/>
        </p:nvSpPr>
        <p:spPr>
          <a:xfrm>
            <a:off x="5405898" y="3677047"/>
            <a:ext cx="2380992" cy="131683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It compares the alert against a library of known hacker methods and attack patterns</a:t>
            </a:r>
            <a:endParaRPr lang="en-US" sz="16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4058" y="2910681"/>
            <a:ext cx="744023" cy="74404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9045249" y="2910681"/>
            <a:ext cx="2380893" cy="3214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Name the Attacker</a:t>
            </a:r>
            <a:endParaRPr lang="en-US" sz="2000" dirty="0"/>
          </a:p>
        </p:txBody>
      </p:sp>
      <p:sp>
        <p:nvSpPr>
          <p:cNvPr id="11" name="Text 6"/>
          <p:cNvSpPr/>
          <p:nvPr/>
        </p:nvSpPr>
        <p:spPr>
          <a:xfrm>
            <a:off x="9045249" y="3355578"/>
            <a:ext cx="2380893" cy="16460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Example: 500 failed logins = "Brute Force Attack" → likely from hacker group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Red Dragon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454" y="1726406"/>
            <a:ext cx="3405003" cy="340508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678642" y="941586"/>
            <a:ext cx="6753850" cy="1285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400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How ClearSignal Works: Step 3 — Report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678642" y="2433141"/>
            <a:ext cx="6753850" cy="6584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Once a real threat is confirmed, ClearSignal writes a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simple, clear summary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— no technical jargon, just the facts.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987205" y="3508077"/>
            <a:ext cx="6445287" cy="9939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🚨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ALERT: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Brute Force Attack detected on Server A.</a:t>
            </a:r>
            <a:endParaRPr lang="en-US" sz="1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Hacker group: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Red Dragon</a:t>
            </a: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.</a:t>
            </a:r>
            <a:endParaRPr lang="en-US" sz="16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Status: </a:t>
            </a:r>
            <a:r>
              <a:rPr lang="en-US" sz="160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Blocked.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678642" y="3322935"/>
            <a:ext cx="25399" cy="1364258"/>
          </a:xfrm>
          <a:prstGeom prst="roundRect">
            <a:avLst>
              <a:gd name="adj" fmla="val 50001"/>
            </a:avLst>
          </a:prstGeom>
          <a:solidFill>
            <a:srgbClr val="609DFF"/>
          </a:solidFill>
          <a:ln/>
        </p:spPr>
      </p:sp>
      <p:sp>
        <p:nvSpPr>
          <p:cNvPr id="7" name="Text 4"/>
          <p:cNvSpPr/>
          <p:nvPr/>
        </p:nvSpPr>
        <p:spPr>
          <a:xfrm>
            <a:off x="4678642" y="4918571"/>
            <a:ext cx="6753850" cy="113149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report goes directly to the security commander</a:t>
            </a:r>
            <a:endParaRPr lang="en-US" sz="1600" dirty="0"/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boss sees exactly what happened and what to do next</a:t>
            </a:r>
            <a:endParaRPr lang="en-US" sz="1600" dirty="0"/>
          </a:p>
          <a:p>
            <a:pPr marL="325120" indent="-325120" algn="l">
              <a:lnSpc>
                <a:spcPct val="133000"/>
              </a:lnSpc>
              <a:buSzPct val="100000"/>
              <a:buChar char="•"/>
            </a:pPr>
            <a:r>
              <a:rPr lang="en-US" sz="16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No guesswork. No delay. Immediate action.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65454" y="577056"/>
            <a:ext cx="10660788" cy="63281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9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The Impact: Before vs. After ClearSignal</a:t>
            </a:r>
            <a:endParaRPr lang="en-US" sz="3950" dirty="0"/>
          </a:p>
        </p:txBody>
      </p:sp>
      <p:sp>
        <p:nvSpPr>
          <p:cNvPr id="3" name="Shape 1"/>
          <p:cNvSpPr/>
          <p:nvPr/>
        </p:nvSpPr>
        <p:spPr>
          <a:xfrm>
            <a:off x="765454" y="1608534"/>
            <a:ext cx="10660788" cy="2348905"/>
          </a:xfrm>
          <a:prstGeom prst="roundRect">
            <a:avLst>
              <a:gd name="adj" fmla="val 3621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1803" y="1614884"/>
            <a:ext cx="5324044" cy="2336205"/>
          </a:xfrm>
          <a:custGeom>
            <a:avLst/>
            <a:gdLst/>
            <a:ahLst/>
            <a:cxnLst/>
            <a:rect l="l" t="t" r="r" b="b"/>
            <a:pathLst>
              <a:path w="5324044" h="2336205">
                <a:moveTo>
                  <a:pt x="70882" y="0"/>
                </a:moveTo>
                <a:lnTo>
                  <a:pt x="5324044" y="0"/>
                </a:lnTo>
                <a:lnTo>
                  <a:pt x="5324044" y="2336205"/>
                </a:lnTo>
                <a:lnTo>
                  <a:pt x="70882" y="2336205"/>
                </a:lnTo>
                <a:arcTo wR="70882" hR="70884" stAng="5400000" swAng="5400000"/>
                <a:lnTo>
                  <a:pt x="0" y="70884"/>
                </a:lnTo>
                <a:arcTo wR="70882" hR="70884" stAng="10800000" swAng="5400000"/>
                <a:close/>
              </a:path>
            </a:pathLst>
          </a:custGeom>
          <a:solidFill>
            <a:srgbClr val="003180"/>
          </a:solidFill>
          <a:ln/>
        </p:spPr>
      </p:sp>
      <p:sp>
        <p:nvSpPr>
          <p:cNvPr id="5" name="Text 3"/>
          <p:cNvSpPr/>
          <p:nvPr/>
        </p:nvSpPr>
        <p:spPr>
          <a:xfrm>
            <a:off x="974304" y="1817390"/>
            <a:ext cx="4919043" cy="316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❌</a:t>
            </a:r>
            <a:r>
              <a:rPr lang="en-US" sz="19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Before ClearSignal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74304" y="2253456"/>
            <a:ext cx="4919043" cy="14951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Analysts face </a:t>
            </a:r>
            <a:r>
              <a:rPr lang="en-US" sz="155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10,000 alerts</a:t>
            </a: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every day</a:t>
            </a:r>
            <a:endParaRPr lang="en-US" sz="1550" dirty="0"/>
          </a:p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Real attacks get lost in the noise</a:t>
            </a:r>
            <a:endParaRPr lang="en-US" sz="1550" dirty="0"/>
          </a:p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Response time: </a:t>
            </a:r>
            <a:r>
              <a:rPr lang="en-US" sz="155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hours</a:t>
            </a:r>
            <a:endParaRPr lang="en-US" sz="1550" dirty="0"/>
          </a:p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Damage already done before anyone notices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095848" y="1614884"/>
            <a:ext cx="5324044" cy="2336205"/>
          </a:xfrm>
          <a:custGeom>
            <a:avLst/>
            <a:gdLst/>
            <a:ahLst/>
            <a:cxnLst/>
            <a:rect l="l" t="t" r="r" b="b"/>
            <a:pathLst>
              <a:path w="5324044" h="2336205">
                <a:moveTo>
                  <a:pt x="0" y="0"/>
                </a:moveTo>
                <a:lnTo>
                  <a:pt x="5253162" y="0"/>
                </a:lnTo>
                <a:arcTo wR="70882" hR="70884" stAng="16200000" swAng="5400000"/>
                <a:lnTo>
                  <a:pt x="5324044" y="2265321"/>
                </a:lnTo>
                <a:arcTo wR="70882" hR="70884" stAng="0" swAng="5400000"/>
                <a:lnTo>
                  <a:pt x="0" y="2336205"/>
                </a:lnTo>
                <a:lnTo>
                  <a:pt x="0" y="0"/>
                </a:lnTo>
                <a:close/>
              </a:path>
            </a:pathLst>
          </a:custGeom>
          <a:solidFill>
            <a:srgbClr val="003180"/>
          </a:solidFill>
          <a:ln/>
        </p:spPr>
      </p:sp>
      <p:sp>
        <p:nvSpPr>
          <p:cNvPr id="8" name="Shape 6"/>
          <p:cNvSpPr/>
          <p:nvPr/>
        </p:nvSpPr>
        <p:spPr>
          <a:xfrm>
            <a:off x="6095848" y="1614884"/>
            <a:ext cx="25399" cy="2336205"/>
          </a:xfrm>
          <a:prstGeom prst="roundRect">
            <a:avLst>
              <a:gd name="adj" fmla="val 50001"/>
            </a:avLst>
          </a:prstGeom>
          <a:solidFill>
            <a:srgbClr val="194A99"/>
          </a:solidFill>
          <a:ln/>
        </p:spPr>
      </p:sp>
      <p:sp>
        <p:nvSpPr>
          <p:cNvPr id="9" name="Text 7"/>
          <p:cNvSpPr/>
          <p:nvPr/>
        </p:nvSpPr>
        <p:spPr>
          <a:xfrm>
            <a:off x="6298348" y="1817390"/>
            <a:ext cx="4919043" cy="316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50" dirty="0">
                <a:solidFill>
                  <a:srgbClr val="00000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✅</a:t>
            </a:r>
            <a:r>
              <a:rPr lang="en-US" sz="19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 After ClearSignal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6298348" y="2253456"/>
            <a:ext cx="4919043" cy="14951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Analysts see only </a:t>
            </a:r>
            <a:r>
              <a:rPr lang="en-US" sz="155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3–5 real alerts</a:t>
            </a:r>
            <a:endParaRPr lang="en-US" sz="1550" dirty="0"/>
          </a:p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Every real attack is caught</a:t>
            </a:r>
            <a:endParaRPr lang="en-US" sz="1550" dirty="0"/>
          </a:p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Response time: </a:t>
            </a:r>
            <a:r>
              <a:rPr lang="en-US" sz="1550" b="1" dirty="0">
                <a:solidFill>
                  <a:srgbClr val="E2E6E9"/>
                </a:solidFill>
                <a:latin typeface="Merriweather Bold" pitchFamily="34" charset="0"/>
                <a:ea typeface="Merriweather Bold" pitchFamily="34" charset="-122"/>
                <a:cs typeface="Merriweather Bold" pitchFamily="34" charset="-120"/>
              </a:rPr>
              <a:t>minutes</a:t>
            </a:r>
            <a:endParaRPr lang="en-US" sz="1550" dirty="0"/>
          </a:p>
          <a:p>
            <a:pPr marL="314960" indent="-314960" algn="l">
              <a:lnSpc>
                <a:spcPct val="132000"/>
              </a:lnSpc>
              <a:buSzPct val="100000"/>
              <a:buChar char="•"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Attacks stopped before any damage is done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765454" y="4282877"/>
            <a:ext cx="3387442" cy="668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2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10,000</a:t>
            </a:r>
            <a:endParaRPr lang="en-US" sz="5250" dirty="0"/>
          </a:p>
        </p:txBody>
      </p:sp>
      <p:sp>
        <p:nvSpPr>
          <p:cNvPr id="12" name="Text 10"/>
          <p:cNvSpPr/>
          <p:nvPr/>
        </p:nvSpPr>
        <p:spPr>
          <a:xfrm>
            <a:off x="765454" y="5201841"/>
            <a:ext cx="3387442" cy="316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Alerts Before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765454" y="5637907"/>
            <a:ext cx="3387442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Overwhelming — impossible to manage manually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402027" y="4282877"/>
            <a:ext cx="3387541" cy="668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2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5</a:t>
            </a:r>
            <a:endParaRPr lang="en-US" sz="5250" dirty="0"/>
          </a:p>
        </p:txBody>
      </p:sp>
      <p:sp>
        <p:nvSpPr>
          <p:cNvPr id="15" name="Text 13"/>
          <p:cNvSpPr/>
          <p:nvPr/>
        </p:nvSpPr>
        <p:spPr>
          <a:xfrm>
            <a:off x="4402027" y="5201841"/>
            <a:ext cx="3387541" cy="316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Alerts After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4402027" y="5637907"/>
            <a:ext cx="3387541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Only what truly matters reaches the analyst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8038700" y="4282877"/>
            <a:ext cx="3387442" cy="6683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52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~90%</a:t>
            </a:r>
            <a:endParaRPr lang="en-US" sz="5250" dirty="0"/>
          </a:p>
        </p:txBody>
      </p:sp>
      <p:sp>
        <p:nvSpPr>
          <p:cNvPr id="18" name="Text 16"/>
          <p:cNvSpPr/>
          <p:nvPr/>
        </p:nvSpPr>
        <p:spPr>
          <a:xfrm>
            <a:off x="8038700" y="5201841"/>
            <a:ext cx="3387442" cy="3165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9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Faster Response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8038700" y="5637907"/>
            <a:ext cx="3387442" cy="642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32000"/>
              </a:lnSpc>
              <a:buNone/>
            </a:pPr>
            <a:r>
              <a:rPr lang="en-US" sz="15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From hours of delay to minutes of action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1886" cy="6858000"/>
          </a:xfrm>
          <a:prstGeom prst="rect">
            <a:avLst/>
          </a:prstGeom>
          <a:solidFill>
            <a:srgbClr val="003180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38" y="144661"/>
            <a:ext cx="4379009" cy="656867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291898" y="618827"/>
            <a:ext cx="6179784" cy="6027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750" dirty="0">
                <a:solidFill>
                  <a:srgbClr val="F5F0F0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Why This Matters</a:t>
            </a:r>
            <a:endParaRPr lang="en-US" sz="3750" dirty="0"/>
          </a:p>
        </p:txBody>
      </p:sp>
      <p:sp>
        <p:nvSpPr>
          <p:cNvPr id="5" name="Text 2"/>
          <p:cNvSpPr/>
          <p:nvPr/>
        </p:nvSpPr>
        <p:spPr>
          <a:xfrm>
            <a:off x="5291898" y="1492746"/>
            <a:ext cx="6179784" cy="597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Cyber attacks are not just a tech problem — they affect real people and real money.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5291898" y="2294037"/>
            <a:ext cx="433972" cy="433983"/>
          </a:xfrm>
          <a:prstGeom prst="roundRect">
            <a:avLst>
              <a:gd name="adj" fmla="val 18667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06642" y="2360315"/>
            <a:ext cx="5565040" cy="30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Millions Lost Every Year</a:t>
            </a:r>
            <a:endParaRPr lang="en-US" sz="1850" dirty="0"/>
          </a:p>
        </p:txBody>
      </p:sp>
      <p:sp>
        <p:nvSpPr>
          <p:cNvPr id="8" name="Text 5"/>
          <p:cNvSpPr/>
          <p:nvPr/>
        </p:nvSpPr>
        <p:spPr>
          <a:xfrm>
            <a:off x="5906642" y="2770088"/>
            <a:ext cx="5565040" cy="597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Companies lose enormous amounts of money to cyber attacks that could have been stopped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291898" y="3729633"/>
            <a:ext cx="433972" cy="433983"/>
          </a:xfrm>
          <a:prstGeom prst="roundRect">
            <a:avLst>
              <a:gd name="adj" fmla="val 18667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06642" y="3795911"/>
            <a:ext cx="5565040" cy="30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Your Data at Risk</a:t>
            </a:r>
            <a:endParaRPr lang="en-US" sz="1850" dirty="0"/>
          </a:p>
        </p:txBody>
      </p:sp>
      <p:sp>
        <p:nvSpPr>
          <p:cNvPr id="11" name="Text 8"/>
          <p:cNvSpPr/>
          <p:nvPr/>
        </p:nvSpPr>
        <p:spPr>
          <a:xfrm>
            <a:off x="5906642" y="4205684"/>
            <a:ext cx="5565040" cy="597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A single breach can expose the personal information of thousands of customers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291898" y="5165229"/>
            <a:ext cx="433972" cy="433983"/>
          </a:xfrm>
          <a:prstGeom prst="roundRect">
            <a:avLst>
              <a:gd name="adj" fmla="val 18667"/>
            </a:avLst>
          </a:prstGeom>
          <a:solidFill>
            <a:srgbClr val="003180"/>
          </a:solidFill>
          <a:ln w="6350">
            <a:solidFill>
              <a:srgbClr val="194A9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906642" y="5231507"/>
            <a:ext cx="5565040" cy="3013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5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ClearSignal Changes the Game</a:t>
            </a:r>
            <a:endParaRPr lang="en-US" sz="1850" dirty="0"/>
          </a:p>
        </p:txBody>
      </p:sp>
      <p:sp>
        <p:nvSpPr>
          <p:cNvPr id="14" name="Text 11"/>
          <p:cNvSpPr/>
          <p:nvPr/>
        </p:nvSpPr>
        <p:spPr>
          <a:xfrm>
            <a:off x="5906642" y="5641280"/>
            <a:ext cx="5565040" cy="5978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1500" dirty="0">
                <a:solidFill>
                  <a:srgbClr val="E2E6E9"/>
                </a:solidFill>
                <a:latin typeface="Merriweather" pitchFamily="34" charset="0"/>
                <a:ea typeface="Merriweather" pitchFamily="34" charset="-122"/>
                <a:cs typeface="Merriweather" pitchFamily="34" charset="-120"/>
              </a:rPr>
              <a:t>Security teams can finally focus on what actually matters — stopping real threats before they cause harm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6B5A388-08F3-D674-1AAF-E26B4D09763A}"/>
              </a:ext>
            </a:extLst>
          </p:cNvPr>
          <p:cNvSpPr/>
          <p:nvPr/>
        </p:nvSpPr>
        <p:spPr>
          <a:xfrm>
            <a:off x="2784468" y="3013501"/>
            <a:ext cx="5790187" cy="83099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800" dirty="0">
                <a:solidFill>
                  <a:srgbClr val="F5F0F0"/>
                </a:solidFill>
                <a:latin typeface="Merriweather" pitchFamily="34" charset="0"/>
              </a:rPr>
              <a:t>THANK</a:t>
            </a:r>
            <a:r>
              <a:rPr lang="en-US" sz="4800" b="1" cap="none" spc="0" dirty="0">
                <a:ln w="9525">
                  <a:solidFill>
                    <a:schemeClr val="bg1"/>
                  </a:solidFill>
                  <a:prstDash val="solid"/>
                </a:ln>
                <a:solidFill>
                  <a:schemeClr val="tx1"/>
                </a:solidFill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 </a:t>
            </a:r>
            <a:r>
              <a:rPr lang="en-US" sz="4800" dirty="0">
                <a:solidFill>
                  <a:srgbClr val="F5F0F0"/>
                </a:solidFill>
                <a:latin typeface="Merriweather" pitchFamily="34" charset="0"/>
              </a:rPr>
              <a:t>YOU</a:t>
            </a:r>
            <a:endParaRPr lang="en-US" sz="4800" b="1" cap="none" spc="0" dirty="0">
              <a:ln w="9525">
                <a:solidFill>
                  <a:schemeClr val="bg1"/>
                </a:solidFill>
                <a:prstDash val="solid"/>
              </a:ln>
              <a:solidFill>
                <a:schemeClr val="tx1"/>
              </a:solidFill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853327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667</Words>
  <Application>Microsoft Office PowerPoint</Application>
  <PresentationFormat>Widescreen</PresentationFormat>
  <Paragraphs>98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Bahnschrift SemiBold</vt:lpstr>
      <vt:lpstr>Merriweather</vt:lpstr>
      <vt:lpstr>Merriweather Bold</vt:lpstr>
      <vt:lpstr>Arial</vt:lpstr>
      <vt:lpstr>Arial Black</vt:lpstr>
      <vt:lpstr>Berlin Sans FB Demi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ZeniL</dc:creator>
  <cp:lastModifiedBy>Zenil Sorathiya</cp:lastModifiedBy>
  <cp:revision>2</cp:revision>
  <dcterms:created xsi:type="dcterms:W3CDTF">2026-09-14T15:32:19Z</dcterms:created>
  <dcterms:modified xsi:type="dcterms:W3CDTF">2026-09-15T10:41:03Z</dcterms:modified>
</cp:coreProperties>
</file>